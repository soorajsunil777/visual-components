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7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19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54E18A-2AB0-40DD-8CCC-83C8F48EAC38}" type="datetimeFigureOut">
              <a:rPr lang="en-DE" smtClean="0"/>
              <a:t>23/07/2024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5F911-692E-44F3-AA61-691F4E0EB3F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61828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33A6E-2CDB-2143-AB06-21B0D3426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8D180-E6AD-4561-C61A-11A7F1B52C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82BE6-8324-73BC-25D2-0266F4D73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EBC2F-2905-460D-815F-E28528DFF5B2}" type="datetime8">
              <a:rPr lang="en-DE" smtClean="0"/>
              <a:t>23/07/2024 17:47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4E26D-DF95-4D66-7475-01EC070E2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291EB-EE6D-D4FA-F5E0-E354FCB84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59EFD-8C39-457A-8675-E8117B6286E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28748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98848-E0AE-8113-F124-DD833E36B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5E03A-363F-8869-9189-D37A63B21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66C34-478C-59D5-D597-DCBCACC61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99EC4-EACE-4BFB-A43D-57F984AFDEAD}" type="datetime8">
              <a:rPr lang="en-DE" smtClean="0"/>
              <a:t>23/07/2024 17:47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CBD4A-E83D-BC21-5DF9-E4D33E746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32258-7E81-2D84-AEF2-979BE11BF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59EFD-8C39-457A-8675-E8117B6286E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70234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77448-3696-0476-5F07-0A86350FE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E0A21-8BC3-444A-09A4-191934605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DDAA2-8416-B4F4-4A18-A941BF56F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EDF81-021A-4672-A716-98865D6CD228}" type="datetime8">
              <a:rPr lang="en-DE" smtClean="0"/>
              <a:t>23/07/2024 17:47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13EF4-6D3D-C14C-83C1-6ADF9E431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63B78-8CB1-9795-E96D-9C5D9C134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59EFD-8C39-457A-8675-E8117B6286E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17158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702E8-2D07-CB3D-10E5-7924CB9C9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9934E-503B-8A1A-9648-0E26110FA9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6C2B41-3D43-03DC-D1E3-BF8A7E427B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DB1C32-ADBE-B0F9-B685-DD5C7C04F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72861-8A43-43C0-9142-6DE44DE5F1B6}" type="datetime8">
              <a:rPr lang="en-DE" smtClean="0"/>
              <a:t>23/07/2024 17:47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940CEE-1912-C4C4-81F5-7C5D91FDD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B6961E-D1C0-9CEB-A4BF-619918BC3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59EFD-8C39-457A-8675-E8117B6286E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61783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FB0D1-8AFA-B79A-9B71-15C359F4C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7FE9E-88D9-86B8-E297-18375DD33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92F803-3ECB-58C2-81FA-4CDAD918F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624299-2EBC-D7DC-A42F-2521CBC57A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05B34A-AE99-4F81-46BC-763C42456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3B8058-8280-9832-B2C8-873575363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24AA0-208A-446D-84C8-DDA7AF20BB3F}" type="datetime8">
              <a:rPr lang="en-DE" smtClean="0"/>
              <a:t>23/07/2024 17:47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90B44D-2FA3-DEEC-D4F6-D9B8D0E38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1C4AF-8469-B8F2-7B13-D16CC34EE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59EFD-8C39-457A-8675-E8117B6286E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78920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36659-D763-948B-FF29-36679DF0B9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74FB96-2800-2EBC-A051-25F991032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2514B-305A-4B78-A7CE-F4BC536823F9}" type="datetime8">
              <a:rPr lang="en-DE" smtClean="0"/>
              <a:t>23/07/2024 17:47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F7C57E-416A-1E3B-DECE-B0FD88D75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412BB7-F26A-B356-E71B-70E68CC31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59EFD-8C39-457A-8675-E8117B6286E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83081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B18200-5BD8-4E83-2182-1EAA37FD0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6A791-ED71-404E-BB3D-8D80906EE2BE}" type="datetime8">
              <a:rPr lang="en-DE" smtClean="0"/>
              <a:t>23/07/2024 17:47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77BFDF-69E6-728F-CE92-45E5CFEC5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2AAE49-3612-C04D-ED40-5D26C474F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59EFD-8C39-457A-8675-E8117B6286E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2995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43637-9E1D-9452-916D-F48DE5A6E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492C9-729B-32AA-D0C6-09228C931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2095F5-E09E-8AFD-863E-7783C183D8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3D4EF-7AC6-2950-40EE-C5BEFD2D3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21F13-30BD-4034-9A30-14757A5BC785}" type="datetime8">
              <a:rPr lang="en-DE" smtClean="0"/>
              <a:t>23/07/2024 17:47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362F6-C667-3E23-F186-E442CC76E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637F8-D67C-B1F5-42D3-7DF0CE91D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59EFD-8C39-457A-8675-E8117B6286E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83523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F88F1-90EA-CBC2-2A31-7C5717216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C7AA42-FFE3-F192-C84D-EA5752E12E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908036-9349-46F6-4049-CC8860D69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FA50F-4297-C442-FD65-6D32A7A8C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A5071-6AD0-43EC-8298-EF95BC73AF2D}" type="datetime8">
              <a:rPr lang="en-DE" smtClean="0"/>
              <a:t>23/07/2024 17:47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04EAE0-7F86-2462-BC21-1D7903D8A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1E6EF-33B5-7DF9-918F-162F6AD1D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59EFD-8C39-457A-8675-E8117B6286E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78935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CECFD-07B8-9D55-11D0-352AEC63F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A1BA9F-8BEA-1101-C1BC-AF11773E30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EF272-FC1B-0719-0F2C-3FDD98F05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F9364F-4B04-40F7-902A-CC3D462E390C}" type="datetime8">
              <a:rPr lang="en-DE" smtClean="0"/>
              <a:t>23/07/2024 17:47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EA974-2286-984C-E146-B2DA80D65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34254-3FAA-9488-38A3-3AFB07729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59EFD-8C39-457A-8675-E8117B6286E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51073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ABAFA0-FB94-B2F9-882E-4B2ACD60EB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A73323-F096-D019-14B1-EFDA99DF31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23935B-255D-11F4-AA9C-58231CB99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F0E57-81DE-4BE5-81F3-BCEEA27C6715}" type="datetime8">
              <a:rPr lang="en-DE" smtClean="0"/>
              <a:t>23/07/2024 17:47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1D8E4-8A2D-6FF7-1D80-FE0CC71A5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03F8B-3DBD-F705-A53D-95E06C6DC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59EFD-8C39-457A-8675-E8117B6286E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09315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3F7ADD-691B-1ED9-2ACC-7350240D8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243DC-CC75-C4C1-49BB-769EC106B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5610A-1C70-D61E-6B6C-342CEE21E1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5EF229-0F4E-4C20-9C8D-A7B8DC1CC9AC}" type="datetime8">
              <a:rPr lang="en-DE" smtClean="0"/>
              <a:t>23/07/2024 17:47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69658-DAA0-C3A6-D99C-A75A220FC1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6803A-EEDF-6956-D9C2-5F7E8F718D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259EFD-8C39-457A-8675-E8117B6286E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64092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4DD2BF48-2793-E082-BB90-5DFCEDEA6986}"/>
              </a:ext>
            </a:extLst>
          </p:cNvPr>
          <p:cNvSpPr/>
          <p:nvPr/>
        </p:nvSpPr>
        <p:spPr>
          <a:xfrm rot="10800000">
            <a:off x="10460182" y="0"/>
            <a:ext cx="1731818" cy="604761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2C1D9D-DE60-E81A-D44E-B9FD821A8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74981"/>
            <a:ext cx="9144000" cy="1163927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+mn-lt"/>
              </a:rPr>
              <a:t>Production Planning Optimization using Technomatix Plant Simulation</a:t>
            </a:r>
            <a:endParaRPr lang="en-DE" sz="4000" b="1" dirty="0">
              <a:latin typeface="+mn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F9C775-D285-BEF5-1835-61E5FA032EEB}"/>
              </a:ext>
            </a:extLst>
          </p:cNvPr>
          <p:cNvCxnSpPr/>
          <p:nvPr/>
        </p:nvCxnSpPr>
        <p:spPr>
          <a:xfrm>
            <a:off x="0" y="6236208"/>
            <a:ext cx="12192000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E9DD088F-E7BD-EEF2-C03D-F0A7BDC5A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94516"/>
            <a:ext cx="3063240" cy="561594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5E3AAD3-F567-8B71-4B58-8BAAE4BE1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59EFD-8C39-457A-8675-E8117B6286EE}" type="slidenum">
              <a:rPr lang="en-DE" smtClean="0"/>
              <a:t>1</a:t>
            </a:fld>
            <a:endParaRPr lang="en-DE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37873F7-05D9-0811-00A0-5E91F7D512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760" y="3668551"/>
            <a:ext cx="5364480" cy="2120323"/>
          </a:xfrm>
          <a:prstGeom prst="rect">
            <a:avLst/>
          </a:prstGeom>
        </p:spPr>
      </p:pic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F26618D6-5C15-13A1-8184-7B8934A1BE64}"/>
              </a:ext>
            </a:extLst>
          </p:cNvPr>
          <p:cNvSpPr/>
          <p:nvPr/>
        </p:nvSpPr>
        <p:spPr>
          <a:xfrm rot="10800000">
            <a:off x="11028218" y="0"/>
            <a:ext cx="1163782" cy="4063999"/>
          </a:xfrm>
          <a:prstGeom prst="rtTriangle">
            <a:avLst/>
          </a:prstGeom>
          <a:ln>
            <a:noFill/>
          </a:ln>
          <a:effectLst>
            <a:outerShdw blurRad="38100" dist="38100" dir="8100000" sx="115000" sy="11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343214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C1D9D-DE60-E81A-D44E-B9FD821A8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808" y="207964"/>
            <a:ext cx="10692384" cy="685800"/>
          </a:xfrm>
        </p:spPr>
        <p:txBody>
          <a:bodyPr>
            <a:normAutofit/>
          </a:bodyPr>
          <a:lstStyle/>
          <a:p>
            <a:pPr algn="l"/>
            <a:r>
              <a:rPr lang="en-US" sz="2400" b="1" u="sng" dirty="0">
                <a:latin typeface="+mn-lt"/>
              </a:rPr>
              <a:t>Problem Statement</a:t>
            </a:r>
            <a:endParaRPr lang="en-DE" sz="2400" b="1" u="sng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848CF5-69A7-57BF-DC1B-6FE4536C72EE}"/>
              </a:ext>
            </a:extLst>
          </p:cNvPr>
          <p:cNvSpPr txBox="1"/>
          <p:nvPr/>
        </p:nvSpPr>
        <p:spPr>
          <a:xfrm>
            <a:off x="749808" y="841248"/>
            <a:ext cx="106923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Delivery delays faced by a medium-sized Sub contracting company producing 5 types of products each with its own production sequence, processing and setup times.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Processing station : Pressing, Lasering, Bending, Profiling and Welding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Present condition : For 100 customer orders sum of all delays is </a:t>
            </a:r>
            <a:r>
              <a:rPr lang="en-US" sz="2000" b="1" dirty="0"/>
              <a:t>17days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sz="20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DB66090-B855-7DC4-4342-A68BA2A561D1}"/>
              </a:ext>
            </a:extLst>
          </p:cNvPr>
          <p:cNvSpPr txBox="1">
            <a:spLocks/>
          </p:cNvSpPr>
          <p:nvPr/>
        </p:nvSpPr>
        <p:spPr>
          <a:xfrm>
            <a:off x="749808" y="2647429"/>
            <a:ext cx="10692384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u="sng" dirty="0">
                <a:latin typeface="+mn-lt"/>
              </a:rPr>
              <a:t>Objective</a:t>
            </a:r>
            <a:endParaRPr lang="en-DE" sz="2400" b="1" u="sng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11FDC1-0BA2-A3BB-FB3A-398CB2E439A4}"/>
              </a:ext>
            </a:extLst>
          </p:cNvPr>
          <p:cNvSpPr txBox="1"/>
          <p:nvPr/>
        </p:nvSpPr>
        <p:spPr>
          <a:xfrm>
            <a:off x="749808" y="3271569"/>
            <a:ext cx="106923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To </a:t>
            </a:r>
            <a:r>
              <a:rPr lang="en-US" sz="2000" b="1" dirty="0"/>
              <a:t>improve delivery reliability</a:t>
            </a:r>
            <a:r>
              <a:rPr lang="en-US" sz="2000" dirty="0"/>
              <a:t> by changing </a:t>
            </a:r>
            <a:r>
              <a:rPr lang="en-US" sz="2000" b="1" dirty="0"/>
              <a:t>production sequence</a:t>
            </a:r>
            <a:r>
              <a:rPr lang="en-US" sz="2000" dirty="0"/>
              <a:t> of customer orders and by changing the lot sizes.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sz="20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1468B7-7D1A-6EAD-4702-E1D96FAD0FAA}"/>
              </a:ext>
            </a:extLst>
          </p:cNvPr>
          <p:cNvCxnSpPr/>
          <p:nvPr/>
        </p:nvCxnSpPr>
        <p:spPr>
          <a:xfrm>
            <a:off x="0" y="6236208"/>
            <a:ext cx="12192000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28E40AE-F967-C315-26A2-02309EAF1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94516"/>
            <a:ext cx="3063240" cy="56159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D66FC75-64EA-01D3-38C8-3C31022506F7}"/>
              </a:ext>
            </a:extLst>
          </p:cNvPr>
          <p:cNvSpPr txBox="1">
            <a:spLocks/>
          </p:cNvSpPr>
          <p:nvPr/>
        </p:nvSpPr>
        <p:spPr>
          <a:xfrm>
            <a:off x="749808" y="4413749"/>
            <a:ext cx="10692384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u="sng" dirty="0">
                <a:latin typeface="+mn-lt"/>
              </a:rPr>
              <a:t>Methodology</a:t>
            </a:r>
            <a:endParaRPr lang="en-DE" sz="2400" b="1" u="sng" dirty="0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9002CF-F3C1-70AF-A72E-57617B3AC7D5}"/>
              </a:ext>
            </a:extLst>
          </p:cNvPr>
          <p:cNvSpPr txBox="1"/>
          <p:nvPr/>
        </p:nvSpPr>
        <p:spPr>
          <a:xfrm>
            <a:off x="749808" y="5037889"/>
            <a:ext cx="106923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Discrete-event simulation and genetic algorithm optimization using Technomatix plant simulation.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sz="2000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5BA46D5-0DE5-DEAB-F324-9135E07AB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59EFD-8C39-457A-8675-E8117B6286EE}" type="slidenum">
              <a:rPr lang="en-DE" smtClean="0"/>
              <a:t>2</a:t>
            </a:fld>
            <a:endParaRPr lang="en-DE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7E493F4-24F2-40A3-29DF-0EC2729A7B6C}"/>
              </a:ext>
            </a:extLst>
          </p:cNvPr>
          <p:cNvCxnSpPr/>
          <p:nvPr/>
        </p:nvCxnSpPr>
        <p:spPr>
          <a:xfrm>
            <a:off x="0" y="207964"/>
            <a:ext cx="12192000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0058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C1D9D-DE60-E81A-D44E-B9FD821A8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808" y="207964"/>
            <a:ext cx="10692384" cy="685800"/>
          </a:xfrm>
        </p:spPr>
        <p:txBody>
          <a:bodyPr>
            <a:normAutofit/>
          </a:bodyPr>
          <a:lstStyle/>
          <a:p>
            <a:pPr algn="l"/>
            <a:r>
              <a:rPr lang="en-US" sz="2400" b="1" u="sng" dirty="0">
                <a:latin typeface="+mn-lt"/>
              </a:rPr>
              <a:t>Task 1: Initial Material flow model development</a:t>
            </a:r>
            <a:endParaRPr lang="en-DE" sz="2400" b="1" u="sng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848CF5-69A7-57BF-DC1B-6FE4536C72EE}"/>
              </a:ext>
            </a:extLst>
          </p:cNvPr>
          <p:cNvSpPr txBox="1"/>
          <p:nvPr/>
        </p:nvSpPr>
        <p:spPr>
          <a:xfrm>
            <a:off x="749808" y="804672"/>
            <a:ext cx="1069238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An initial material flow model to serve as a baseline for subsequent optimization was created.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Used </a:t>
            </a:r>
            <a:r>
              <a:rPr lang="en-US" sz="2000" b="1" dirty="0" err="1"/>
              <a:t>init</a:t>
            </a:r>
            <a:r>
              <a:rPr lang="en-US" sz="2000" b="1" dirty="0"/>
              <a:t> method </a:t>
            </a:r>
            <a:r>
              <a:rPr lang="en-US" sz="2000" dirty="0"/>
              <a:t>to generate 100 random orders with random no. of product types.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Initial production sequence : Alphabetical order of product types ( A to E 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Calculated </a:t>
            </a:r>
            <a:r>
              <a:rPr lang="en-US" sz="2000" b="1" dirty="0" err="1"/>
              <a:t>Makespan</a:t>
            </a:r>
            <a:r>
              <a:rPr lang="en-US" sz="2000" dirty="0"/>
              <a:t> (Total time required to process all orders) and </a:t>
            </a:r>
            <a:r>
              <a:rPr lang="en-US" sz="2000" b="1" dirty="0"/>
              <a:t>Total tardiness </a:t>
            </a:r>
            <a:r>
              <a:rPr lang="en-US" sz="2000" dirty="0"/>
              <a:t>(Sum of all delays).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2620A4-C860-8CD8-B2BB-DF52D23352B1}"/>
              </a:ext>
            </a:extLst>
          </p:cNvPr>
          <p:cNvCxnSpPr/>
          <p:nvPr/>
        </p:nvCxnSpPr>
        <p:spPr>
          <a:xfrm>
            <a:off x="0" y="6236208"/>
            <a:ext cx="12192000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FC47894E-38AA-E578-6C96-2EDB4759A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94516"/>
            <a:ext cx="3063240" cy="56159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3E46589-9E0D-83B8-9AB2-7DE627D03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983" y="3234637"/>
            <a:ext cx="7272881" cy="2673683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4F46004C-2A68-9FE4-94CD-3EB05E6BD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59EFD-8C39-457A-8675-E8117B6286EE}" type="slidenum">
              <a:rPr lang="en-DE" smtClean="0"/>
              <a:t>3</a:t>
            </a:fld>
            <a:endParaRPr lang="en-DE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535116E-50C9-7F05-C890-0FEF3EE75440}"/>
              </a:ext>
            </a:extLst>
          </p:cNvPr>
          <p:cNvCxnSpPr/>
          <p:nvPr/>
        </p:nvCxnSpPr>
        <p:spPr>
          <a:xfrm>
            <a:off x="0" y="207964"/>
            <a:ext cx="12192000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1793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C1D9D-DE60-E81A-D44E-B9FD821A8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808" y="207964"/>
            <a:ext cx="10692384" cy="685800"/>
          </a:xfrm>
        </p:spPr>
        <p:txBody>
          <a:bodyPr>
            <a:normAutofit/>
          </a:bodyPr>
          <a:lstStyle/>
          <a:p>
            <a:pPr algn="l"/>
            <a:r>
              <a:rPr lang="en-US" sz="2400" b="1" u="sng" dirty="0">
                <a:latin typeface="+mn-lt"/>
              </a:rPr>
              <a:t>Task 2: Optimization with Genetic algorithm</a:t>
            </a:r>
            <a:endParaRPr lang="en-DE" sz="2400" b="1" u="sng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848CF5-69A7-57BF-DC1B-6FE4536C72EE}"/>
              </a:ext>
            </a:extLst>
          </p:cNvPr>
          <p:cNvSpPr txBox="1"/>
          <p:nvPr/>
        </p:nvSpPr>
        <p:spPr>
          <a:xfrm>
            <a:off x="749808" y="850392"/>
            <a:ext cx="1069238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To </a:t>
            </a:r>
            <a:r>
              <a:rPr lang="en-US" sz="2000" b="1" dirty="0"/>
              <a:t>minimize</a:t>
            </a:r>
            <a:r>
              <a:rPr lang="en-US" sz="2000" dirty="0"/>
              <a:t> the </a:t>
            </a:r>
            <a:r>
              <a:rPr lang="en-US" sz="2000" b="1" dirty="0" err="1"/>
              <a:t>Makespan</a:t>
            </a:r>
            <a:r>
              <a:rPr lang="en-US" sz="2000" dirty="0"/>
              <a:t> and </a:t>
            </a:r>
            <a:r>
              <a:rPr lang="en-US" sz="2000" b="1" dirty="0"/>
              <a:t>total tardiness </a:t>
            </a:r>
            <a:r>
              <a:rPr lang="en-US" sz="2000" dirty="0"/>
              <a:t>according to given objective function </a:t>
            </a:r>
            <a:r>
              <a:rPr lang="en-US" sz="2000" b="1" dirty="0"/>
              <a:t>GA wizard </a:t>
            </a:r>
            <a:r>
              <a:rPr lang="en-US" sz="2000" dirty="0"/>
              <a:t>was used.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Product table and lot sizes were given as optimization parameters and bounds were defined.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simulation was run with experimentally suitable parameters for no. of generations and size of generations.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2620A4-C860-8CD8-B2BB-DF52D23352B1}"/>
              </a:ext>
            </a:extLst>
          </p:cNvPr>
          <p:cNvCxnSpPr/>
          <p:nvPr/>
        </p:nvCxnSpPr>
        <p:spPr>
          <a:xfrm>
            <a:off x="0" y="6236208"/>
            <a:ext cx="12192000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FC47894E-38AA-E578-6C96-2EDB4759A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94516"/>
            <a:ext cx="3063240" cy="56159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4DF12-256A-80A5-0CF2-A0C04914F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59EFD-8C39-457A-8675-E8117B6286EE}" type="slidenum">
              <a:rPr lang="en-DE" smtClean="0"/>
              <a:t>4</a:t>
            </a:fld>
            <a:endParaRPr lang="en-DE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B577F71-3CD8-18EA-85B9-B93296ED3AAE}"/>
              </a:ext>
            </a:extLst>
          </p:cNvPr>
          <p:cNvCxnSpPr/>
          <p:nvPr/>
        </p:nvCxnSpPr>
        <p:spPr>
          <a:xfrm>
            <a:off x="0" y="207964"/>
            <a:ext cx="12192000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408C2B3-E114-7058-DE26-30AE0BF34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8786" y="3429000"/>
            <a:ext cx="3953427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478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C1D9D-DE60-E81A-D44E-B9FD821A8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808" y="207964"/>
            <a:ext cx="10692384" cy="685800"/>
          </a:xfrm>
        </p:spPr>
        <p:txBody>
          <a:bodyPr>
            <a:normAutofit/>
          </a:bodyPr>
          <a:lstStyle/>
          <a:p>
            <a:pPr algn="l"/>
            <a:r>
              <a:rPr lang="en-US" sz="2400" b="1" u="sng" dirty="0">
                <a:latin typeface="+mn-lt"/>
              </a:rPr>
              <a:t>Result</a:t>
            </a:r>
            <a:endParaRPr lang="en-DE" sz="2400" b="1" u="sng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848CF5-69A7-57BF-DC1B-6FE4536C72EE}"/>
              </a:ext>
            </a:extLst>
          </p:cNvPr>
          <p:cNvSpPr txBox="1"/>
          <p:nvPr/>
        </p:nvSpPr>
        <p:spPr>
          <a:xfrm>
            <a:off x="749808" y="850392"/>
            <a:ext cx="106923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genetic algorithm optimized the problem by minimizing the objective function.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GA optimized both production sequence and lot sizes given as optimization parameter to </a:t>
            </a:r>
            <a:r>
              <a:rPr lang="en-US" sz="2000" b="1" dirty="0"/>
              <a:t>reduce the fitness value </a:t>
            </a:r>
            <a:r>
              <a:rPr lang="en-US" sz="2000" dirty="0"/>
              <a:t>from </a:t>
            </a:r>
            <a:r>
              <a:rPr lang="en-US" sz="2000" b="1" dirty="0"/>
              <a:t>17 days to 22 hours.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Optimized production sequence : </a:t>
            </a:r>
            <a:r>
              <a:rPr lang="de-DE" sz="2000" b="1" dirty="0"/>
              <a:t>ProductB &gt; ProductA &gt; ProductC &gt; ProductE &gt; ProductD</a:t>
            </a:r>
            <a:endParaRPr lang="en-US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2620A4-C860-8CD8-B2BB-DF52D23352B1}"/>
              </a:ext>
            </a:extLst>
          </p:cNvPr>
          <p:cNvCxnSpPr/>
          <p:nvPr/>
        </p:nvCxnSpPr>
        <p:spPr>
          <a:xfrm>
            <a:off x="0" y="6236208"/>
            <a:ext cx="12192000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FC47894E-38AA-E578-6C96-2EDB4759A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94516"/>
            <a:ext cx="3063240" cy="5615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71B809-2B53-5E97-4833-11744C998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7809" y="2970637"/>
            <a:ext cx="4039727" cy="26906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4D9B7C-CA2A-8675-7FD4-BE2FEF5BD13C}"/>
              </a:ext>
            </a:extLst>
          </p:cNvPr>
          <p:cNvSpPr txBox="1"/>
          <p:nvPr/>
        </p:nvSpPr>
        <p:spPr>
          <a:xfrm>
            <a:off x="3677809" y="5661331"/>
            <a:ext cx="40397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Fig. Example Evolution of the fitness values of the generations</a:t>
            </a:r>
            <a:endParaRPr lang="en-DE" sz="12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49F33-BDED-3342-CE32-8488577E1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59EFD-8C39-457A-8675-E8117B6286EE}" type="slidenum">
              <a:rPr lang="en-DE" smtClean="0"/>
              <a:t>5</a:t>
            </a:fld>
            <a:endParaRPr lang="en-DE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EE9656-607C-F297-8002-EC9385315D94}"/>
              </a:ext>
            </a:extLst>
          </p:cNvPr>
          <p:cNvCxnSpPr/>
          <p:nvPr/>
        </p:nvCxnSpPr>
        <p:spPr>
          <a:xfrm>
            <a:off x="0" y="207964"/>
            <a:ext cx="12192000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762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C1D9D-DE60-E81A-D44E-B9FD821A8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122363"/>
            <a:ext cx="9948672" cy="238760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Discrete-Rate and Discrete-Event Simulation Modelling in Production planning </a:t>
            </a:r>
            <a:endParaRPr lang="en-DE" sz="4000" b="1" dirty="0">
              <a:latin typeface="+mn-lt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F9C775-D285-BEF5-1835-61E5FA032EEB}"/>
              </a:ext>
            </a:extLst>
          </p:cNvPr>
          <p:cNvCxnSpPr/>
          <p:nvPr/>
        </p:nvCxnSpPr>
        <p:spPr>
          <a:xfrm>
            <a:off x="0" y="6236208"/>
            <a:ext cx="12192000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E9DD088F-E7BD-EEF2-C03D-F0A7BDC5A9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94516"/>
            <a:ext cx="3063240" cy="56159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9F73C0-ED59-9750-98BD-A50105F52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59EFD-8C39-457A-8675-E8117B6286EE}" type="slidenum">
              <a:rPr lang="en-DE" smtClean="0"/>
              <a:t>6</a:t>
            </a:fld>
            <a:endParaRPr lang="en-DE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2696D82B-52F9-254D-B5AF-44367C41CD1A}"/>
              </a:ext>
            </a:extLst>
          </p:cNvPr>
          <p:cNvSpPr/>
          <p:nvPr/>
        </p:nvSpPr>
        <p:spPr>
          <a:xfrm rot="10800000">
            <a:off x="10460182" y="0"/>
            <a:ext cx="1731818" cy="604761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4104213E-3AA0-D8B5-BC1D-F9703D47EE87}"/>
              </a:ext>
            </a:extLst>
          </p:cNvPr>
          <p:cNvSpPr/>
          <p:nvPr/>
        </p:nvSpPr>
        <p:spPr>
          <a:xfrm rot="10800000">
            <a:off x="11028218" y="0"/>
            <a:ext cx="1163782" cy="4063999"/>
          </a:xfrm>
          <a:prstGeom prst="rtTriangle">
            <a:avLst/>
          </a:prstGeom>
          <a:ln>
            <a:noFill/>
          </a:ln>
          <a:effectLst>
            <a:outerShdw blurRad="38100" dist="38100" dir="8100000" sx="115000" sy="115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038838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C1D9D-DE60-E81A-D44E-B9FD821A8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808" y="207964"/>
            <a:ext cx="10692384" cy="685800"/>
          </a:xfrm>
        </p:spPr>
        <p:txBody>
          <a:bodyPr>
            <a:normAutofit/>
          </a:bodyPr>
          <a:lstStyle/>
          <a:p>
            <a:pPr algn="l"/>
            <a:r>
              <a:rPr lang="en-US" sz="2400" b="1" u="sng" dirty="0">
                <a:latin typeface="+mn-lt"/>
              </a:rPr>
              <a:t>Problem Statement</a:t>
            </a:r>
            <a:endParaRPr lang="en-DE" sz="2400" b="1" u="sng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848CF5-69A7-57BF-DC1B-6FE4536C72EE}"/>
              </a:ext>
            </a:extLst>
          </p:cNvPr>
          <p:cNvSpPr txBox="1"/>
          <p:nvPr/>
        </p:nvSpPr>
        <p:spPr>
          <a:xfrm>
            <a:off x="749808" y="841248"/>
            <a:ext cx="10692384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Optimizing production processes in a cookie factory using simulation models.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DB66090-B855-7DC4-4342-A68BA2A561D1}"/>
              </a:ext>
            </a:extLst>
          </p:cNvPr>
          <p:cNvSpPr txBox="1">
            <a:spLocks/>
          </p:cNvSpPr>
          <p:nvPr/>
        </p:nvSpPr>
        <p:spPr>
          <a:xfrm>
            <a:off x="749808" y="1522717"/>
            <a:ext cx="10692384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u="sng" dirty="0">
                <a:latin typeface="+mn-lt"/>
              </a:rPr>
              <a:t>Objective</a:t>
            </a:r>
            <a:endParaRPr lang="en-DE" sz="2400" b="1" u="sng" dirty="0">
              <a:latin typeface="+mn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11FDC1-0BA2-A3BB-FB3A-398CB2E439A4}"/>
              </a:ext>
            </a:extLst>
          </p:cNvPr>
          <p:cNvSpPr txBox="1"/>
          <p:nvPr/>
        </p:nvSpPr>
        <p:spPr>
          <a:xfrm>
            <a:off x="749808" y="2146857"/>
            <a:ext cx="106923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Identify bottlenecks and </a:t>
            </a:r>
            <a:r>
              <a:rPr lang="en-US" sz="2000" b="1" dirty="0"/>
              <a:t>estimate production capacity </a:t>
            </a:r>
            <a:r>
              <a:rPr lang="en-US" sz="2000" dirty="0"/>
              <a:t>over two weeks..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sz="20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1468B7-7D1A-6EAD-4702-E1D96FAD0FAA}"/>
              </a:ext>
            </a:extLst>
          </p:cNvPr>
          <p:cNvCxnSpPr/>
          <p:nvPr/>
        </p:nvCxnSpPr>
        <p:spPr>
          <a:xfrm>
            <a:off x="0" y="6236208"/>
            <a:ext cx="12192000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28E40AE-F967-C315-26A2-02309EAF1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94516"/>
            <a:ext cx="3063240" cy="56159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D66FC75-64EA-01D3-38C8-3C31022506F7}"/>
              </a:ext>
            </a:extLst>
          </p:cNvPr>
          <p:cNvSpPr txBox="1">
            <a:spLocks/>
          </p:cNvSpPr>
          <p:nvPr/>
        </p:nvSpPr>
        <p:spPr>
          <a:xfrm>
            <a:off x="749808" y="2703821"/>
            <a:ext cx="10692384" cy="685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b="1" u="sng" dirty="0">
                <a:latin typeface="+mn-lt"/>
              </a:rPr>
              <a:t>Methodology</a:t>
            </a:r>
            <a:endParaRPr lang="en-DE" sz="2400" b="1" u="sng" dirty="0"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9002CF-F3C1-70AF-A72E-57617B3AC7D5}"/>
              </a:ext>
            </a:extLst>
          </p:cNvPr>
          <p:cNvSpPr txBox="1"/>
          <p:nvPr/>
        </p:nvSpPr>
        <p:spPr>
          <a:xfrm>
            <a:off x="749808" y="3327961"/>
            <a:ext cx="1069238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Discrete-Rate Simulation (DRS) and Discrete-Event Simulation (DES) in </a:t>
            </a:r>
            <a:r>
              <a:rPr lang="en-US" sz="2000" b="1" dirty="0" err="1"/>
              <a:t>ExtendSim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87F3C-EB9C-4F20-0D07-859252206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59EFD-8C39-457A-8675-E8117B6286EE}" type="slidenum">
              <a:rPr lang="en-DE" smtClean="0"/>
              <a:t>7</a:t>
            </a:fld>
            <a:endParaRPr lang="en-DE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FB2FA42-C05B-0959-8098-0CD6B4E149AA}"/>
              </a:ext>
            </a:extLst>
          </p:cNvPr>
          <p:cNvCxnSpPr/>
          <p:nvPr/>
        </p:nvCxnSpPr>
        <p:spPr>
          <a:xfrm>
            <a:off x="0" y="207964"/>
            <a:ext cx="12192000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2909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C1D9D-DE60-E81A-D44E-B9FD821A8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808" y="207964"/>
            <a:ext cx="10692384" cy="685800"/>
          </a:xfrm>
        </p:spPr>
        <p:txBody>
          <a:bodyPr>
            <a:normAutofit/>
          </a:bodyPr>
          <a:lstStyle/>
          <a:p>
            <a:pPr algn="l"/>
            <a:r>
              <a:rPr lang="en-US" sz="2400" b="1" u="sng" dirty="0">
                <a:latin typeface="+mn-lt"/>
              </a:rPr>
              <a:t>Task 1: Conceptual Model</a:t>
            </a:r>
            <a:endParaRPr lang="en-DE" sz="2400" b="1" u="sng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848CF5-69A7-57BF-DC1B-6FE4536C72EE}"/>
              </a:ext>
            </a:extLst>
          </p:cNvPr>
          <p:cNvSpPr txBox="1"/>
          <p:nvPr/>
        </p:nvSpPr>
        <p:spPr>
          <a:xfrm>
            <a:off x="749808" y="804672"/>
            <a:ext cx="1069238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Developed a conceptual model for the process and made rough calculations for expected throughput.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Selected modelling technique to be used for different processes involved.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2620A4-C860-8CD8-B2BB-DF52D23352B1}"/>
              </a:ext>
            </a:extLst>
          </p:cNvPr>
          <p:cNvCxnSpPr/>
          <p:nvPr/>
        </p:nvCxnSpPr>
        <p:spPr>
          <a:xfrm>
            <a:off x="0" y="6236208"/>
            <a:ext cx="12192000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FC47894E-38AA-E578-6C96-2EDB4759A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94516"/>
            <a:ext cx="3063240" cy="5615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E9614A-3099-0CED-9270-34AC35D35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0390" y="2528181"/>
            <a:ext cx="6138434" cy="322624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99EF1-0A64-C559-4C99-833475EC6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59EFD-8C39-457A-8675-E8117B6286EE}" type="slidenum">
              <a:rPr lang="en-DE" smtClean="0"/>
              <a:t>8</a:t>
            </a:fld>
            <a:endParaRPr lang="en-D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64394A0-6BC7-961F-3BD6-9A31D663E8D7}"/>
              </a:ext>
            </a:extLst>
          </p:cNvPr>
          <p:cNvCxnSpPr/>
          <p:nvPr/>
        </p:nvCxnSpPr>
        <p:spPr>
          <a:xfrm>
            <a:off x="0" y="207964"/>
            <a:ext cx="12192000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550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C1D9D-DE60-E81A-D44E-B9FD821A8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808" y="207964"/>
            <a:ext cx="10692384" cy="685800"/>
          </a:xfrm>
        </p:spPr>
        <p:txBody>
          <a:bodyPr>
            <a:normAutofit/>
          </a:bodyPr>
          <a:lstStyle/>
          <a:p>
            <a:pPr algn="l"/>
            <a:r>
              <a:rPr lang="en-US" sz="2400" b="1" u="sng" dirty="0">
                <a:latin typeface="+mn-lt"/>
              </a:rPr>
              <a:t>Task 2: Modelling and Simulation in </a:t>
            </a:r>
            <a:r>
              <a:rPr lang="en-US" sz="2400" b="1" u="sng" dirty="0" err="1">
                <a:latin typeface="+mn-lt"/>
              </a:rPr>
              <a:t>ExtendSim</a:t>
            </a:r>
            <a:endParaRPr lang="en-DE" sz="2400" b="1" u="sng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848CF5-69A7-57BF-DC1B-6FE4536C72EE}"/>
              </a:ext>
            </a:extLst>
          </p:cNvPr>
          <p:cNvSpPr txBox="1"/>
          <p:nvPr/>
        </p:nvSpPr>
        <p:spPr>
          <a:xfrm>
            <a:off x="749808" y="850392"/>
            <a:ext cx="10692384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production process based on selected modelling techniques were modelled.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The simulation was run for 2 weeks to determine the throughput.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Bottleneck analysis for all the processes were carried out based utilization at different stages.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Result of rough and simulated calculation were compared.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A2620A4-C860-8CD8-B2BB-DF52D23352B1}"/>
              </a:ext>
            </a:extLst>
          </p:cNvPr>
          <p:cNvCxnSpPr/>
          <p:nvPr/>
        </p:nvCxnSpPr>
        <p:spPr>
          <a:xfrm>
            <a:off x="0" y="6236208"/>
            <a:ext cx="12192000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FC47894E-38AA-E578-6C96-2EDB4759A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94516"/>
            <a:ext cx="3063240" cy="5615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76F836-F460-A06A-3B89-AF26FA39C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337" y="2903275"/>
            <a:ext cx="8129325" cy="288207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1E1C9-0D7D-5B51-0260-F04A4B64C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59EFD-8C39-457A-8675-E8117B6286EE}" type="slidenum">
              <a:rPr lang="en-DE" smtClean="0"/>
              <a:t>9</a:t>
            </a:fld>
            <a:endParaRPr lang="en-D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A1E4E17-8D1C-9D9A-794C-8FFFEAD40668}"/>
              </a:ext>
            </a:extLst>
          </p:cNvPr>
          <p:cNvCxnSpPr/>
          <p:nvPr/>
        </p:nvCxnSpPr>
        <p:spPr>
          <a:xfrm>
            <a:off x="0" y="207964"/>
            <a:ext cx="12192000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805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C1D9D-DE60-E81A-D44E-B9FD821A83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808" y="207964"/>
            <a:ext cx="10692384" cy="685800"/>
          </a:xfrm>
        </p:spPr>
        <p:txBody>
          <a:bodyPr>
            <a:normAutofit/>
          </a:bodyPr>
          <a:lstStyle/>
          <a:p>
            <a:pPr algn="l"/>
            <a:r>
              <a:rPr lang="en-US" sz="2400" b="1" u="sng" dirty="0">
                <a:latin typeface="+mn-lt"/>
              </a:rPr>
              <a:t>Conclusion</a:t>
            </a:r>
            <a:endParaRPr lang="en-DE" sz="2400" b="1" u="sng" dirty="0"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848CF5-69A7-57BF-DC1B-6FE4536C72EE}"/>
              </a:ext>
            </a:extLst>
          </p:cNvPr>
          <p:cNvSpPr txBox="1"/>
          <p:nvPr/>
        </p:nvSpPr>
        <p:spPr>
          <a:xfrm>
            <a:off x="749808" y="841248"/>
            <a:ext cx="10692384" cy="18162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Both of these projects helped me understand how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material flow simulation can significantly improve production planning efficiency</a:t>
            </a:r>
            <a:r>
              <a:rPr lang="en-US" sz="18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en-US" sz="18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delivery reliability</a:t>
            </a:r>
            <a:r>
              <a:rPr lang="en-US" b="1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dirty="0"/>
              <a:t>Demonstrated the effectiveness of simulation and practical applications of these techniques in enhancing manufacturing processes.</a:t>
            </a:r>
            <a:endParaRPr lang="en-DE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B1468B7-7D1A-6EAD-4702-E1D96FAD0FAA}"/>
              </a:ext>
            </a:extLst>
          </p:cNvPr>
          <p:cNvCxnSpPr/>
          <p:nvPr/>
        </p:nvCxnSpPr>
        <p:spPr>
          <a:xfrm>
            <a:off x="0" y="6236208"/>
            <a:ext cx="12192000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28E40AE-F967-C315-26A2-02309EAF13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94516"/>
            <a:ext cx="3063240" cy="56159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EAC37-EF04-D258-9BF6-13396BDDB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259EFD-8C39-457A-8675-E8117B6286EE}" type="slidenum">
              <a:rPr lang="en-DE" smtClean="0"/>
              <a:t>10</a:t>
            </a:fld>
            <a:endParaRPr lang="en-DE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44B0BBA-9902-FC11-886D-6D62756A207D}"/>
              </a:ext>
            </a:extLst>
          </p:cNvPr>
          <p:cNvCxnSpPr/>
          <p:nvPr/>
        </p:nvCxnSpPr>
        <p:spPr>
          <a:xfrm>
            <a:off x="0" y="207964"/>
            <a:ext cx="12192000" cy="0"/>
          </a:xfrm>
          <a:prstGeom prst="line">
            <a:avLst/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93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493</TotalTime>
  <Words>466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Calibri Light</vt:lpstr>
      <vt:lpstr>Office Theme</vt:lpstr>
      <vt:lpstr>Production Planning Optimization using Technomatix Plant Simulation</vt:lpstr>
      <vt:lpstr>Problem Statement</vt:lpstr>
      <vt:lpstr>Task 1: Initial Material flow model development</vt:lpstr>
      <vt:lpstr>Task 2: Optimization with Genetic algorithm</vt:lpstr>
      <vt:lpstr>Result</vt:lpstr>
      <vt:lpstr>Discrete-Rate and Discrete-Event Simulation Modelling in Production planning </vt:lpstr>
      <vt:lpstr>Problem Statement</vt:lpstr>
      <vt:lpstr>Task 1: Conceptual Model</vt:lpstr>
      <vt:lpstr>Task 2: Modelling and Simulation in ExtendSim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Sooraj Sunil</dc:creator>
  <cp:lastModifiedBy>Sooraj Sunil</cp:lastModifiedBy>
  <cp:revision>86</cp:revision>
  <dcterms:created xsi:type="dcterms:W3CDTF">2024-07-23T13:06:41Z</dcterms:created>
  <dcterms:modified xsi:type="dcterms:W3CDTF">2024-07-23T21:20:09Z</dcterms:modified>
</cp:coreProperties>
</file>